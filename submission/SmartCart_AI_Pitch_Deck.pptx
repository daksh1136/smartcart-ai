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0936" y="649224"/>
            <a:ext cx="91440" cy="585216"/>
          </a:xfrm>
          <a:prstGeom prst="rect">
            <a:avLst/>
          </a:prstGeom>
          <a:solidFill>
            <a:srgbClr val="09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804672"/>
            <a:ext cx="7132320" cy="25603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85F2DB"/>
                </a:solidFill>
                <a:latin typeface="Aptos"/>
              </a:rPr>
              <a:t>HACKATHON  /  RETAIL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45336"/>
            <a:ext cx="6675120" cy="950976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Aptos"/>
              </a:rPr>
              <a:t>SmartCart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569464"/>
            <a:ext cx="6492240" cy="54864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D4E9F3"/>
                </a:solidFill>
                <a:latin typeface="Aptos"/>
              </a:rPr>
              <a:t>Scan. Verify. 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346704"/>
            <a:ext cx="6035040" cy="98755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AFC4D4"/>
                </a:solidFill>
                <a:latin typeface="Aptos"/>
              </a:rPr>
              <a:t>Checkout-anywhere, with a separate layer checking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AFC4D4"/>
                </a:solidFill>
                <a:latin typeface="Aptos"/>
              </a:rPr>
              <a:t>what left the shelf against what was scanned.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10912"/>
            <a:ext cx="1709928" cy="320040"/>
          </a:xfrm>
          <a:prstGeom prst="roundRect">
            <a:avLst>
              <a:gd name="adj" fmla="val 30000"/>
            </a:avLst>
          </a:prstGeom>
          <a:solidFill>
            <a:srgbClr val="21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070348"/>
            <a:ext cx="1527048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8F5DC"/>
                </a:solidFill>
                <a:latin typeface="Aptos"/>
              </a:rPr>
              <a:t>SINGLE SHOPPER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4328" y="5010912"/>
            <a:ext cx="1901952" cy="320040"/>
          </a:xfrm>
          <a:prstGeom prst="roundRect">
            <a:avLst>
              <a:gd name="adj" fmla="val 30000"/>
            </a:avLst>
          </a:prstGeom>
          <a:solidFill>
            <a:srgbClr val="21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5070348"/>
            <a:ext cx="1719072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8F5DC"/>
                </a:solidFill>
                <a:latin typeface="Aptos"/>
              </a:rPr>
              <a:t>3 DEMO 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5010912"/>
            <a:ext cx="1618488" cy="320040"/>
          </a:xfrm>
          <a:prstGeom prst="roundRect">
            <a:avLst>
              <a:gd name="adj" fmla="val 30000"/>
            </a:avLst>
          </a:prstGeom>
          <a:solidFill>
            <a:srgbClr val="213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5070348"/>
            <a:ext cx="1435608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8F5DC"/>
                </a:solidFill>
                <a:latin typeface="Aptos"/>
              </a:rPr>
              <a:t>MOCK BILLING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252728"/>
            <a:ext cx="4050791" cy="4526280"/>
          </a:xfrm>
          <a:prstGeom prst="roundRect">
            <a:avLst>
              <a:gd name="adj" fmla="val 14000"/>
            </a:avLst>
          </a:prstGeom>
          <a:solidFill>
            <a:srgbClr val="16283C"/>
          </a:solidFill>
          <a:ln w="12700">
            <a:solidFill>
              <a:srgbClr val="2D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0" y="1618488"/>
            <a:ext cx="466344" cy="466344"/>
          </a:xfrm>
          <a:prstGeom prst="ellipse">
            <a:avLst/>
          </a:prstGeom>
          <a:solidFill>
            <a:srgbClr val="90B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27264" y="1732788"/>
            <a:ext cx="347472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C1729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591056"/>
            <a:ext cx="2724912" cy="34747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PHYSICAL PICKUP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002536"/>
            <a:ext cx="2697480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B8CDDE"/>
                </a:solidFill>
                <a:latin typeface="Aptos"/>
              </a:rPr>
              <a:t>Shelf event observed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10144" y="2093976"/>
            <a:ext cx="0" cy="658368"/>
          </a:xfrm>
          <a:prstGeom prst="line">
            <a:avLst/>
          </a:prstGeom>
          <a:ln w="30480">
            <a:solidFill>
              <a:srgbClr val="49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772400" y="2880360"/>
            <a:ext cx="466344" cy="466344"/>
          </a:xfrm>
          <a:prstGeom prst="ellipse">
            <a:avLst/>
          </a:prstGeom>
          <a:solidFill>
            <a:srgbClr val="76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27264" y="2994660"/>
            <a:ext cx="347472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C1729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852928"/>
            <a:ext cx="2724912" cy="34747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MOBILE 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3264408"/>
            <a:ext cx="2697480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B8CDDE"/>
                </a:solidFill>
                <a:latin typeface="Aptos"/>
              </a:rPr>
              <a:t>Barcode recorded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10144" y="3355848"/>
            <a:ext cx="0" cy="658367"/>
          </a:xfrm>
          <a:prstGeom prst="line">
            <a:avLst/>
          </a:prstGeom>
          <a:ln w="30480">
            <a:solidFill>
              <a:srgbClr val="496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772400" y="4142231"/>
            <a:ext cx="466344" cy="466344"/>
          </a:xfrm>
          <a:prstGeom prst="ellipse">
            <a:avLst/>
          </a:prstGeom>
          <a:solidFill>
            <a:srgbClr val="EBC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27264" y="4256531"/>
            <a:ext cx="347472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C1729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114799"/>
            <a:ext cx="2724912" cy="34747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EXIT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4526279"/>
            <a:ext cx="2697480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B8CDDE"/>
                </a:solidFill>
                <a:latin typeface="Aptos"/>
              </a:rPr>
              <a:t>Match or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71616"/>
            <a:ext cx="10789920" cy="36576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8FAABB"/>
                </a:solidFill>
                <a:latin typeface="Aptos"/>
              </a:rPr>
              <a:t>The prototype validates the workflow, not real-store security accuracy.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64008" cy="411480"/>
          </a:xfrm>
          <a:prstGeom prst="rect">
            <a:avLst/>
          </a:prstGeom>
          <a:solidFill>
            <a:srgbClr val="09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48056"/>
            <a:ext cx="8229600" cy="20116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9A88C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59536"/>
            <a:ext cx="10972800" cy="62179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22138"/>
                </a:solidFill>
                <a:latin typeface="Aptos"/>
              </a:rPr>
              <a:t>Scan &amp; go has a trust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0972800" cy="4114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617388"/>
                </a:solidFill>
                <a:latin typeface="Aptos"/>
              </a:rPr>
              <a:t>A phone records what people scan — not necessarily what physically leaves the shelf.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73368"/>
            <a:ext cx="11009376" cy="13716"/>
          </a:xfrm>
          <a:prstGeom prst="rect">
            <a:avLst/>
          </a:prstGeom>
          <a:solidFill>
            <a:srgbClr val="DE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6400800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SMARTCART AI  /  HACKATHON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14984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02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" y="2304288"/>
            <a:ext cx="3575304" cy="22128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2560320"/>
            <a:ext cx="502920" cy="320040"/>
          </a:xfrm>
          <a:prstGeom prst="roundRect">
            <a:avLst>
              <a:gd name="adj" fmla="val 30000"/>
            </a:avLst>
          </a:prstGeom>
          <a:solidFill>
            <a:srgbClr val="E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619756"/>
            <a:ext cx="320040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9A88C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36392"/>
            <a:ext cx="3163824" cy="37490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22138"/>
                </a:solidFill>
                <a:latin typeface="Aptos"/>
              </a:rPr>
              <a:t>Missed scans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30168"/>
            <a:ext cx="3136392" cy="69494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17388"/>
                </a:solidFill>
                <a:latin typeface="Aptos"/>
              </a:rPr>
              <a:t>An item is picked up, but never added to the mobile cart.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2304288"/>
            <a:ext cx="3575304" cy="22128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09160" y="2560320"/>
            <a:ext cx="502920" cy="320040"/>
          </a:xfrm>
          <a:prstGeom prst="roundRect">
            <a:avLst>
              <a:gd name="adj" fmla="val 30000"/>
            </a:avLst>
          </a:prstGeom>
          <a:solidFill>
            <a:srgbClr val="ED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619756"/>
            <a:ext cx="320040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779D5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3136392"/>
            <a:ext cx="3163824" cy="37490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22138"/>
                </a:solidFill>
                <a:latin typeface="Aptos"/>
              </a:rPr>
              <a:t>Wrong quantities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3630168"/>
            <a:ext cx="3136392" cy="69494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17388"/>
                </a:solidFill>
                <a:latin typeface="Aptos"/>
              </a:rPr>
              <a:t>A scanned count does not match physical shelf activity.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48471" y="2304288"/>
            <a:ext cx="3575304" cy="22128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58784" y="2560320"/>
            <a:ext cx="502920" cy="320040"/>
          </a:xfrm>
          <a:prstGeom prst="roundRect">
            <a:avLst>
              <a:gd name="adj" fmla="val 30000"/>
            </a:avLst>
          </a:prstGeom>
          <a:solidFill>
            <a:srgbClr val="FF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0224" y="2619756"/>
            <a:ext cx="320040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AA40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3136392"/>
            <a:ext cx="3163824" cy="37490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22138"/>
                </a:solidFill>
                <a:latin typeface="Aptos"/>
              </a:rPr>
              <a:t>Ambiguous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3630168"/>
            <a:ext cx="3136392" cy="69494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17388"/>
                </a:solidFill>
                <a:latin typeface="Aptos"/>
              </a:rPr>
              <a:t>Shadows, returns and sensor noise can create false alarms.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" y="4992624"/>
            <a:ext cx="10890504" cy="740664"/>
          </a:xfrm>
          <a:prstGeom prst="roundRect">
            <a:avLst>
              <a:gd name="adj" fmla="val 10000"/>
            </a:avLst>
          </a:prstGeom>
          <a:solidFill>
            <a:srgbClr val="0C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39512"/>
            <a:ext cx="1828800" cy="25603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7BE2CA"/>
                </a:solidFill>
                <a:latin typeface="Aptos"/>
              </a:rPr>
              <a:t>Opportunity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5193792"/>
            <a:ext cx="8229600" cy="356616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Verify physical actions without adding another checkout queue.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64008" cy="411480"/>
          </a:xfrm>
          <a:prstGeom prst="rect">
            <a:avLst/>
          </a:prstGeom>
          <a:solidFill>
            <a:srgbClr val="09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48056"/>
            <a:ext cx="8229600" cy="20116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9A88C"/>
                </a:solidFill>
                <a:latin typeface="Aptos"/>
              </a:rPr>
              <a:t>OUR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59536"/>
            <a:ext cx="10972800" cy="62179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22138"/>
                </a:solidFill>
                <a:latin typeface="Aptos"/>
              </a:rPr>
              <a:t>Two carts. One exit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0972800" cy="4114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617388"/>
                </a:solidFill>
                <a:latin typeface="Aptos"/>
              </a:rPr>
              <a:t>A mismatch becomes a chance to correct the cart, not an accusation.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73368"/>
            <a:ext cx="11009376" cy="13716"/>
          </a:xfrm>
          <a:prstGeom prst="rect">
            <a:avLst/>
          </a:prstGeom>
          <a:solidFill>
            <a:srgbClr val="DE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6400800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SMARTCART AI  /  HACKATHON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14984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03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993392"/>
            <a:ext cx="4974336" cy="23591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0976" y="2286000"/>
            <a:ext cx="1828800" cy="320040"/>
          </a:xfrm>
          <a:prstGeom prst="roundRect">
            <a:avLst>
              <a:gd name="adj" fmla="val 30000"/>
            </a:avLst>
          </a:prstGeom>
          <a:solidFill>
            <a:srgbClr val="E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345436"/>
            <a:ext cx="1645920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9A88C"/>
                </a:solidFill>
                <a:latin typeface="Aptos"/>
              </a:rPr>
              <a:t>PHYSICAL CART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4297680" cy="448056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22138"/>
                </a:solidFill>
                <a:latin typeface="Aptos"/>
              </a:rPr>
              <a:t>Shampoo  × 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438144"/>
            <a:ext cx="4206240" cy="38404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617388"/>
                </a:solidFill>
                <a:latin typeface="Aptos"/>
              </a:rPr>
              <a:t>From shelf pickup / return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9672" y="1993392"/>
            <a:ext cx="4974336" cy="23591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93992" y="2286000"/>
            <a:ext cx="1755648" cy="320040"/>
          </a:xfrm>
          <a:prstGeom prst="roundRect">
            <a:avLst>
              <a:gd name="adj" fmla="val 30000"/>
            </a:avLst>
          </a:prstGeom>
          <a:solidFill>
            <a:srgbClr val="ED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1" y="2345436"/>
            <a:ext cx="1572768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779D5"/>
                </a:solidFill>
                <a:latin typeface="Aptos"/>
              </a:rPr>
              <a:t>DIGITAL CART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852928"/>
            <a:ext cx="4297680" cy="448056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22138"/>
                </a:solidFill>
                <a:latin typeface="Aptos"/>
              </a:rPr>
              <a:t>Shampoo  × 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438144"/>
            <a:ext cx="4114800" cy="38404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617388"/>
                </a:solidFill>
                <a:latin typeface="Aptos"/>
              </a:rPr>
              <a:t>From scanned mobile barcodes</a:t>
            </a:r>
          </a:p>
        </p:txBody>
      </p:sp>
      <p:sp>
        <p:nvSpPr>
          <p:cNvPr id="19" name="Oval 18"/>
          <p:cNvSpPr/>
          <p:nvPr/>
        </p:nvSpPr>
        <p:spPr>
          <a:xfrm>
            <a:off x="5742432" y="2889504"/>
            <a:ext cx="667512" cy="667512"/>
          </a:xfrm>
          <a:prstGeom prst="ellipse">
            <a:avLst/>
          </a:prstGeom>
          <a:solidFill>
            <a:srgbClr val="FF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2953512"/>
            <a:ext cx="466344" cy="37490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A46B1D"/>
                </a:solidFill>
                <a:latin typeface="Aptos"/>
              </a:rPr>
              <a:t>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846320"/>
            <a:ext cx="10835640" cy="850392"/>
          </a:xfrm>
          <a:prstGeom prst="roundRect">
            <a:avLst>
              <a:gd name="adj" fmla="val 14000"/>
            </a:avLst>
          </a:prstGeom>
          <a:solidFill>
            <a:srgbClr val="FFF3DE"/>
          </a:solidFill>
          <a:ln w="12700">
            <a:solidFill>
              <a:srgbClr val="F3E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120640"/>
            <a:ext cx="2834640" cy="25603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9A611B"/>
                </a:solidFill>
                <a:latin typeface="Aptos"/>
              </a:rPr>
              <a:t>REVIEW 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1608" y="5074920"/>
            <a:ext cx="7315200" cy="37490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22138"/>
                </a:solidFill>
                <a:latin typeface="Aptos"/>
              </a:rPr>
              <a:t>Do not issue a receipt until counts and pending evidence are resolved.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64008" cy="411480"/>
          </a:xfrm>
          <a:prstGeom prst="rect">
            <a:avLst/>
          </a:prstGeom>
          <a:solidFill>
            <a:srgbClr val="09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48056"/>
            <a:ext cx="8229600" cy="20116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9A88C"/>
                </a:solidFill>
                <a:latin typeface="Aptos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59536"/>
            <a:ext cx="10972800" cy="62179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22138"/>
                </a:solidFill>
                <a:latin typeface="Aptos"/>
              </a:rPr>
              <a:t>A five-step proof in two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0972800" cy="4114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617388"/>
                </a:solidFill>
                <a:latin typeface="Aptos"/>
              </a:rPr>
              <a:t>Use the deterministic simulator for the main judging flow; then show camera monitoring as a separate experiment.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73368"/>
            <a:ext cx="11009376" cy="13716"/>
          </a:xfrm>
          <a:prstGeom prst="rect">
            <a:avLst/>
          </a:prstGeom>
          <a:solidFill>
            <a:srgbClr val="DE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6400800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SMARTCART AI  /  HACKATHON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14984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04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267712"/>
            <a:ext cx="2185416" cy="2103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8096" y="2468880"/>
            <a:ext cx="466344" cy="466344"/>
          </a:xfrm>
          <a:prstGeom prst="ellipse">
            <a:avLst/>
          </a:prstGeom>
          <a:solidFill>
            <a:srgbClr val="12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587752"/>
            <a:ext cx="338328" cy="14630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127248"/>
            <a:ext cx="1920240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22138"/>
                </a:solidFill>
                <a:latin typeface="Aptos"/>
              </a:rPr>
              <a:t>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575304"/>
            <a:ext cx="1847088" cy="56692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17388"/>
                </a:solidFill>
                <a:latin typeface="Aptos"/>
              </a:rPr>
              <a:t>Fresh shopping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2344" y="2926080"/>
            <a:ext cx="210312" cy="39319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9A88C"/>
                </a:solidFill>
                <a:latin typeface="Aptos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35224" y="2267712"/>
            <a:ext cx="2185416" cy="2103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9816" y="2468880"/>
            <a:ext cx="466344" cy="466344"/>
          </a:xfrm>
          <a:prstGeom prst="ellipse">
            <a:avLst/>
          </a:prstGeom>
          <a:solidFill>
            <a:srgbClr val="12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3824" y="2587752"/>
            <a:ext cx="338328" cy="14630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3127248"/>
            <a:ext cx="1920240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22138"/>
                </a:solidFill>
                <a:latin typeface="Aptos"/>
              </a:rPr>
              <a:t>PICK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9816" y="3575304"/>
            <a:ext cx="1847088" cy="56692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17388"/>
                </a:solidFill>
                <a:latin typeface="Aptos"/>
              </a:rPr>
              <a:t>Shampoo simulated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2926080"/>
            <a:ext cx="210312" cy="39319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9A88C"/>
                </a:solidFill>
                <a:latin typeface="Aptos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66944" y="2267712"/>
            <a:ext cx="2185416" cy="2103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31536" y="2468880"/>
            <a:ext cx="466344" cy="466344"/>
          </a:xfrm>
          <a:prstGeom prst="ellipse">
            <a:avLst/>
          </a:prstGeom>
          <a:solidFill>
            <a:srgbClr val="E8A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95544" y="2587752"/>
            <a:ext cx="338328" cy="14630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2392" y="3127248"/>
            <a:ext cx="1920240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22138"/>
                </a:solidFill>
                <a:latin typeface="Aptos"/>
              </a:rPr>
              <a:t>TRY EXIT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3575304"/>
            <a:ext cx="1847088" cy="56692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17388"/>
                </a:solidFill>
                <a:latin typeface="Aptos"/>
              </a:rPr>
              <a:t>Blocked: not scanned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5783" y="2926080"/>
            <a:ext cx="210312" cy="39319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9A88C"/>
                </a:solidFill>
                <a:latin typeface="Aptos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98663" y="2267712"/>
            <a:ext cx="2185416" cy="2103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63255" y="2468880"/>
            <a:ext cx="466344" cy="466344"/>
          </a:xfrm>
          <a:prstGeom prst="ellipse">
            <a:avLst/>
          </a:prstGeom>
          <a:solidFill>
            <a:srgbClr val="377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27263" y="2587752"/>
            <a:ext cx="338328" cy="14630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1" y="3127248"/>
            <a:ext cx="1920240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22138"/>
                </a:solidFill>
                <a:latin typeface="Aptos"/>
              </a:rPr>
              <a:t>SCAN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5" y="3575304"/>
            <a:ext cx="1847088" cy="56692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17388"/>
                </a:solidFill>
                <a:latin typeface="Aptos"/>
              </a:rPr>
              <a:t>Shampoo × 1 matched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7503" y="2926080"/>
            <a:ext cx="210312" cy="39319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9A88C"/>
                </a:solidFill>
                <a:latin typeface="Aptos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30384" y="2267712"/>
            <a:ext cx="2185416" cy="2103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94976" y="2468880"/>
            <a:ext cx="466344" cy="466344"/>
          </a:xfrm>
          <a:prstGeom prst="ellipse">
            <a:avLst/>
          </a:prstGeom>
          <a:solidFill>
            <a:srgbClr val="09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58984" y="2587752"/>
            <a:ext cx="338328" cy="14630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85832" y="3127248"/>
            <a:ext cx="1920240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22138"/>
                </a:solidFill>
                <a:latin typeface="Aptos"/>
              </a:rPr>
              <a:t>EXIT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4976" y="3575304"/>
            <a:ext cx="1847088" cy="56692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17388"/>
                </a:solidFill>
                <a:latin typeface="Aptos"/>
              </a:rPr>
              <a:t>₹199 mock receipt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" y="4974336"/>
            <a:ext cx="10927080" cy="758952"/>
          </a:xfrm>
          <a:prstGeom prst="roundRect">
            <a:avLst>
              <a:gd name="adj" fmla="val 12000"/>
            </a:avLst>
          </a:prstGeom>
          <a:solidFill>
            <a:srgbClr val="E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" y="5230368"/>
            <a:ext cx="1956816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9A88C"/>
                </a:solidFill>
                <a:latin typeface="Aptos"/>
              </a:rPr>
              <a:t>Expected result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5166360"/>
            <a:ext cx="8330183" cy="42976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22138"/>
                </a:solidFill>
                <a:latin typeface="Aptos"/>
              </a:rPr>
              <a:t>The unscanned item blocks checkout; the matched cart receives one simulated receipt.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64008" cy="411480"/>
          </a:xfrm>
          <a:prstGeom prst="rect">
            <a:avLst/>
          </a:prstGeom>
          <a:solidFill>
            <a:srgbClr val="09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48056"/>
            <a:ext cx="8229600" cy="20116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9A88C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59536"/>
            <a:ext cx="10972800" cy="62179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22138"/>
                </a:solidFill>
                <a:latin typeface="Aptos"/>
              </a:rPr>
              <a:t>From observation to reconciliation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0972800" cy="4114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617388"/>
                </a:solidFill>
                <a:latin typeface="Aptos"/>
              </a:rPr>
              <a:t>One backend resolves accepted shelf events against mobile barcode scans.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73368"/>
            <a:ext cx="11009376" cy="13716"/>
          </a:xfrm>
          <a:prstGeom prst="rect">
            <a:avLst/>
          </a:prstGeom>
          <a:solidFill>
            <a:srgbClr val="DE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6400800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SMARTCART AI  /  HACKATHON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14984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05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3621024" cy="978408"/>
          </a:xfrm>
          <a:prstGeom prst="roundRect">
            <a:avLst>
              <a:gd name="adj" fmla="val 16000"/>
            </a:avLst>
          </a:prstGeom>
          <a:solidFill>
            <a:srgbClr val="EDF5FE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157984"/>
            <a:ext cx="3191256" cy="28346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22138"/>
                </a:solidFill>
                <a:latin typeface="Aptos"/>
              </a:rPr>
              <a:t>MOBILE 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42032"/>
            <a:ext cx="3191256" cy="28346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17388"/>
                </a:solidFill>
                <a:latin typeface="Aptos"/>
              </a:rPr>
              <a:t>Barcode / digital cart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2971800"/>
            <a:ext cx="0" cy="493776"/>
          </a:xfrm>
          <a:prstGeom prst="line">
            <a:avLst/>
          </a:prstGeom>
          <a:ln w="20320">
            <a:solidFill>
              <a:srgbClr val="09A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89704" y="1993392"/>
            <a:ext cx="3621024" cy="978408"/>
          </a:xfrm>
          <a:prstGeom prst="roundRect">
            <a:avLst>
              <a:gd name="adj" fmla="val 16000"/>
            </a:avLst>
          </a:prstGeom>
          <a:solidFill>
            <a:srgbClr val="E3F7F1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2157984"/>
            <a:ext cx="3191256" cy="28346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22138"/>
                </a:solidFill>
                <a:latin typeface="Aptos"/>
              </a:rPr>
              <a:t>CAMERA OBSERVER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542032"/>
            <a:ext cx="3191256" cy="28346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17388"/>
                </a:solidFill>
                <a:latin typeface="Aptos"/>
              </a:rPr>
              <a:t>OpenCV fixed shelf zones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0216" y="2971800"/>
            <a:ext cx="0" cy="493776"/>
          </a:xfrm>
          <a:prstGeom prst="line">
            <a:avLst/>
          </a:prstGeom>
          <a:ln w="20320">
            <a:solidFill>
              <a:srgbClr val="09A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21040" y="1993392"/>
            <a:ext cx="3621024" cy="978408"/>
          </a:xfrm>
          <a:prstGeom prst="roundRect">
            <a:avLst>
              <a:gd name="adj" fmla="val 16000"/>
            </a:avLst>
          </a:prstGeom>
          <a:solidFill>
            <a:srgbClr val="FFF3DE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157984"/>
            <a:ext cx="3191256" cy="28346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22138"/>
                </a:solidFill>
                <a:latin typeface="Aptos"/>
              </a:rPr>
              <a:t>SIMULATED WEIGHT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542032"/>
            <a:ext cx="3191256" cy="28346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17388"/>
                </a:solidFill>
                <a:latin typeface="Aptos"/>
              </a:rPr>
              <a:t>Second signal in fusion mode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31552" y="2971800"/>
            <a:ext cx="0" cy="493776"/>
          </a:xfrm>
          <a:prstGeom prst="line">
            <a:avLst/>
          </a:prstGeom>
          <a:ln w="20320">
            <a:solidFill>
              <a:srgbClr val="09A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148840" y="3474720"/>
            <a:ext cx="7900416" cy="941832"/>
          </a:xfrm>
          <a:prstGeom prst="roundRect">
            <a:avLst>
              <a:gd name="adj" fmla="val 16000"/>
            </a:avLst>
          </a:prstGeom>
          <a:solidFill>
            <a:srgbClr val="0C1729"/>
          </a:solidFill>
          <a:ln w="8255">
            <a:solidFill>
              <a:srgbClr val="244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04872" y="3648456"/>
            <a:ext cx="7333488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FASTAPI RECONCILIATION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9736" y="4023360"/>
            <a:ext cx="7260336" cy="22860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1D8E6"/>
                </a:solidFill>
                <a:latin typeface="Aptos"/>
              </a:rPr>
              <a:t>Accepted physical events + per-product scan counts + unresolved evidence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4476" y="4416552"/>
            <a:ext cx="0" cy="246888"/>
          </a:xfrm>
          <a:prstGeom prst="line">
            <a:avLst/>
          </a:prstGeom>
          <a:ln w="22860">
            <a:solidFill>
              <a:srgbClr val="09A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5256" y="4709160"/>
            <a:ext cx="4965192" cy="813816"/>
          </a:xfrm>
          <a:prstGeom prst="roundRect">
            <a:avLst>
              <a:gd name="adj" fmla="val 16000"/>
            </a:avLst>
          </a:prstGeom>
          <a:solidFill>
            <a:srgbClr val="FFF3DE"/>
          </a:solidFill>
          <a:ln w="8255">
            <a:solidFill>
              <a:srgbClr val="F1D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4965192"/>
            <a:ext cx="4626864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895A20"/>
                </a:solidFill>
                <a:latin typeface="Aptos"/>
              </a:rPr>
              <a:t>MISMATCH / UNCERTAINTY  →  REVIEW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4709160"/>
            <a:ext cx="4946904" cy="813816"/>
          </a:xfrm>
          <a:prstGeom prst="roundRect">
            <a:avLst>
              <a:gd name="adj" fmla="val 16000"/>
            </a:avLst>
          </a:prstGeom>
          <a:solidFill>
            <a:srgbClr val="E3F7F1"/>
          </a:solidFill>
          <a:ln w="8255">
            <a:solidFill>
              <a:srgbClr val="C7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4965192"/>
            <a:ext cx="4617720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36858"/>
                </a:solidFill>
                <a:latin typeface="Aptos"/>
              </a:rPr>
              <a:t>MATCH + CLEAR EVIDENCE  →  MOCK RECEIPT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5852160"/>
            <a:ext cx="10744200" cy="25603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17388"/>
                </a:solidFill>
                <a:latin typeface="Aptos"/>
              </a:rPr>
              <a:t>YOLO tracking and reference-image SKU checks are optional overlays, not authoritative billing inputs.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64008" cy="411480"/>
          </a:xfrm>
          <a:prstGeom prst="rect">
            <a:avLst/>
          </a:prstGeom>
          <a:solidFill>
            <a:srgbClr val="09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48056"/>
            <a:ext cx="8229600" cy="20116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9A88C"/>
                </a:solidFill>
                <a:latin typeface="Aptos"/>
              </a:rPr>
              <a:t>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59536"/>
            <a:ext cx="10972800" cy="62179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22138"/>
                </a:solidFill>
                <a:latin typeface="Aptos"/>
              </a:rPr>
              <a:t>A simple, honest camera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0972800" cy="4114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617388"/>
                </a:solidFill>
                <a:latin typeface="Aptos"/>
              </a:rPr>
              <a:t>For live camera mode: fixed viewpoint, stable lighting, one product per shelf zone.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73368"/>
            <a:ext cx="11009376" cy="13716"/>
          </a:xfrm>
          <a:prstGeom prst="rect">
            <a:avLst/>
          </a:prstGeom>
          <a:solidFill>
            <a:srgbClr val="DE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6400800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SMARTCART AI  /  HACKATHON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14984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06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93392"/>
            <a:ext cx="6528816" cy="33284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267712"/>
            <a:ext cx="3749039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17388"/>
                </a:solidFill>
                <a:latin typeface="Aptos"/>
              </a:rPr>
              <a:t>CALIBRATED SHELF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" y="2779776"/>
            <a:ext cx="1856231" cy="1636776"/>
          </a:xfrm>
          <a:prstGeom prst="roundRect">
            <a:avLst>
              <a:gd name="adj" fmla="val 8000"/>
            </a:avLst>
          </a:prstGeom>
          <a:solidFill>
            <a:srgbClr val="E6F7F1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926080"/>
            <a:ext cx="1591056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445B"/>
                </a:solidFill>
                <a:latin typeface="Aptos"/>
              </a:rPr>
              <a:t>ZONE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3566160"/>
            <a:ext cx="1673352" cy="30175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22138"/>
                </a:solidFill>
                <a:latin typeface="Aptos"/>
              </a:rPr>
              <a:t>SHAMPOO</a:t>
            </a:r>
          </a:p>
        </p:txBody>
      </p:sp>
      <p:sp>
        <p:nvSpPr>
          <p:cNvPr id="14" name="Oval 13"/>
          <p:cNvSpPr/>
          <p:nvPr/>
        </p:nvSpPr>
        <p:spPr>
          <a:xfrm>
            <a:off x="1792224" y="4105656"/>
            <a:ext cx="201168" cy="201168"/>
          </a:xfrm>
          <a:prstGeom prst="ellipse">
            <a:avLst/>
          </a:prstGeom>
          <a:solidFill>
            <a:srgbClr val="09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26664" y="2779776"/>
            <a:ext cx="1856231" cy="1636776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926080"/>
            <a:ext cx="1591056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445B"/>
                </a:solidFill>
                <a:latin typeface="Aptos"/>
              </a:rPr>
              <a:t>ZONE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8104" y="3566160"/>
            <a:ext cx="1673352" cy="30175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22138"/>
                </a:solidFill>
                <a:latin typeface="Aptos"/>
              </a:rPr>
              <a:t>BISCUITS</a:t>
            </a:r>
          </a:p>
        </p:txBody>
      </p:sp>
      <p:sp>
        <p:nvSpPr>
          <p:cNvPr id="18" name="Oval 17"/>
          <p:cNvSpPr/>
          <p:nvPr/>
        </p:nvSpPr>
        <p:spPr>
          <a:xfrm>
            <a:off x="3803904" y="4105656"/>
            <a:ext cx="201168" cy="201168"/>
          </a:xfrm>
          <a:prstGeom prst="ellipse">
            <a:avLst/>
          </a:prstGeom>
          <a:solidFill>
            <a:srgbClr val="377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38344" y="2779776"/>
            <a:ext cx="1856231" cy="1636776"/>
          </a:xfrm>
          <a:prstGeom prst="roundRect">
            <a:avLst>
              <a:gd name="adj" fmla="val 8000"/>
            </a:avLst>
          </a:prstGeom>
          <a:solidFill>
            <a:srgbClr val="FFF3DF"/>
          </a:solidFill>
          <a:ln w="12700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926080"/>
            <a:ext cx="1591056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445B"/>
                </a:solidFill>
                <a:latin typeface="Aptos"/>
              </a:rPr>
              <a:t>ZONE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3566160"/>
            <a:ext cx="1673352" cy="30175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22138"/>
                </a:solidFill>
                <a:latin typeface="Aptos"/>
              </a:rPr>
              <a:t>COLA</a:t>
            </a:r>
          </a:p>
        </p:txBody>
      </p:sp>
      <p:sp>
        <p:nvSpPr>
          <p:cNvPr id="22" name="Oval 21"/>
          <p:cNvSpPr/>
          <p:nvPr/>
        </p:nvSpPr>
        <p:spPr>
          <a:xfrm>
            <a:off x="5815584" y="4105656"/>
            <a:ext cx="201168" cy="201168"/>
          </a:xfrm>
          <a:prstGeom prst="ellipse">
            <a:avLst/>
          </a:prstGeom>
          <a:solidFill>
            <a:srgbClr val="E8A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754880"/>
            <a:ext cx="6126480" cy="47548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17388"/>
                </a:solidFill>
                <a:latin typeface="Aptos"/>
              </a:rPr>
              <a:t>OpenCV compares “empty” and “stocked” reference views after movement settles.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34656" y="1993392"/>
            <a:ext cx="3913632" cy="3328416"/>
          </a:xfrm>
          <a:prstGeom prst="roundRect">
            <a:avLst>
              <a:gd name="adj" fmla="val 16000"/>
            </a:avLst>
          </a:prstGeom>
          <a:solidFill>
            <a:srgbClr val="0C1729"/>
          </a:solidFill>
          <a:ln w="8255">
            <a:solidFill>
              <a:srgbClr val="244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27264" y="2313432"/>
            <a:ext cx="1938528" cy="320040"/>
          </a:xfrm>
          <a:prstGeom prst="roundRect">
            <a:avLst>
              <a:gd name="adj" fmla="val 30000"/>
            </a:avLst>
          </a:prstGeom>
          <a:solidFill>
            <a:srgbClr val="24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18704" y="2372868"/>
            <a:ext cx="1755648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BE2CA"/>
                </a:solidFill>
                <a:latin typeface="Aptos"/>
              </a:rPr>
              <a:t>IMPORTANT LIMIT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27264" y="2898648"/>
            <a:ext cx="3246120" cy="10972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Detect a likely shelf change —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not a person’s intent.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4242816"/>
            <a:ext cx="3136392" cy="950976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C4D8E6"/>
                </a:solidFill>
                <a:latin typeface="Aptos"/>
              </a:rPr>
              <a:t>YOLO tracking and visual SKU similarity are optional advisory experiments; neither authorizes checkout.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64008" cy="411480"/>
          </a:xfrm>
          <a:prstGeom prst="rect">
            <a:avLst/>
          </a:prstGeom>
          <a:solidFill>
            <a:srgbClr val="09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48056"/>
            <a:ext cx="8229600" cy="20116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9A88C"/>
                </a:solidFill>
                <a:latin typeface="Aptos"/>
              </a:rPr>
              <a:t>SENSOR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59536"/>
            <a:ext cx="10972800" cy="62179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22138"/>
                </a:solidFill>
                <a:latin typeface="Aptos"/>
              </a:rPr>
              <a:t>One observation can wait for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0972800" cy="4114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617388"/>
                </a:solidFill>
                <a:latin typeface="Aptos"/>
              </a:rPr>
              <a:t>Two-signal mode uses simulated weight readings — physical load cells are a future milestone.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73368"/>
            <a:ext cx="11009376" cy="13716"/>
          </a:xfrm>
          <a:prstGeom prst="rect">
            <a:avLst/>
          </a:prstGeom>
          <a:solidFill>
            <a:srgbClr val="DE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6400800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SMARTCART AI  /  HACKATHON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14984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07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2066543"/>
            <a:ext cx="10753344" cy="9966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976" y="2368296"/>
            <a:ext cx="384048" cy="384048"/>
          </a:xfrm>
          <a:prstGeom prst="ellipse">
            <a:avLst/>
          </a:prstGeom>
          <a:solidFill>
            <a:srgbClr val="A1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450591"/>
            <a:ext cx="192024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240279"/>
            <a:ext cx="5212080" cy="32918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22138"/>
                </a:solidFill>
                <a:latin typeface="Aptos"/>
              </a:rPr>
              <a:t>Camera reports Shampoo pickup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642615"/>
            <a:ext cx="5532120" cy="25603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17388"/>
                </a:solidFill>
                <a:latin typeface="Aptos"/>
              </a:rPr>
              <a:t>No corresponding weight event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2414015"/>
            <a:ext cx="1609344" cy="320040"/>
          </a:xfrm>
          <a:prstGeom prst="roundRect">
            <a:avLst>
              <a:gd name="adj" fmla="val 30000"/>
            </a:avLst>
          </a:prstGeom>
          <a:solidFill>
            <a:srgbClr val="FF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2473451"/>
            <a:ext cx="1426464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1551C"/>
                </a:solidFill>
                <a:latin typeface="Aptos"/>
              </a:rPr>
              <a:t>PENDING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" y="3255263"/>
            <a:ext cx="10753344" cy="9966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0976" y="3557015"/>
            <a:ext cx="384048" cy="384048"/>
          </a:xfrm>
          <a:prstGeom prst="ellipse">
            <a:avLst/>
          </a:prstGeom>
          <a:solidFill>
            <a:srgbClr val="09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639311"/>
            <a:ext cx="192024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428999"/>
            <a:ext cx="5212080" cy="32918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22138"/>
                </a:solidFill>
                <a:latin typeface="Aptos"/>
              </a:rPr>
              <a:t>Camera pickup + simulated 250g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3831335"/>
            <a:ext cx="5532120" cy="25603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17388"/>
                </a:solidFill>
                <a:latin typeface="Aptos"/>
              </a:rPr>
              <a:t>Same product and 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3602735"/>
            <a:ext cx="1609344" cy="320040"/>
          </a:xfrm>
          <a:prstGeom prst="roundRect">
            <a:avLst>
              <a:gd name="adj" fmla="val 30000"/>
            </a:avLst>
          </a:prstGeom>
          <a:solidFill>
            <a:srgbClr val="E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3662172"/>
            <a:ext cx="1426464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9A88C"/>
                </a:solidFill>
                <a:latin typeface="Aptos"/>
              </a:rPr>
              <a:t>CONFIRMED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" y="4443983"/>
            <a:ext cx="10753344" cy="9966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0976" y="4745736"/>
            <a:ext cx="384048" cy="384048"/>
          </a:xfrm>
          <a:prstGeom prst="ellipse">
            <a:avLst/>
          </a:prstGeom>
          <a:solidFill>
            <a:srgbClr val="B4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4828031"/>
            <a:ext cx="192024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617720"/>
            <a:ext cx="5212080" cy="32918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22138"/>
                </a:solidFill>
                <a:latin typeface="Aptos"/>
              </a:rPr>
              <a:t>Camera Shampoo + weight Biscuits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5020055"/>
            <a:ext cx="5532120" cy="25603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17388"/>
                </a:solidFill>
                <a:latin typeface="Aptos"/>
              </a:rPr>
              <a:t>Conflicting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2600" y="4791455"/>
            <a:ext cx="1609344" cy="320040"/>
          </a:xfrm>
          <a:prstGeom prst="roundRect">
            <a:avLst>
              <a:gd name="adj" fmla="val 30000"/>
            </a:avLst>
          </a:prstGeom>
          <a:solidFill>
            <a:srgbClr val="FF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4850892"/>
            <a:ext cx="1426464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1551C"/>
                </a:solidFill>
                <a:latin typeface="Aptos"/>
              </a:rPr>
              <a:t>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" y="5852160"/>
            <a:ext cx="10753344" cy="2560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779008"/>
            <a:ext cx="10241280" cy="28346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4445B"/>
                </a:solidFill>
                <a:latin typeface="Aptos"/>
              </a:rPr>
              <a:t>Safety behavior: pending and uncertain evidence prevent automatic simulated exit.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64008" cy="411480"/>
          </a:xfrm>
          <a:prstGeom prst="rect">
            <a:avLst/>
          </a:prstGeom>
          <a:solidFill>
            <a:srgbClr val="09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48056"/>
            <a:ext cx="8229600" cy="20116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9A88C"/>
                </a:solidFill>
                <a:latin typeface="Aptos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59536"/>
            <a:ext cx="10972800" cy="62179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22138"/>
                </a:solidFill>
                <a:latin typeface="Aptos"/>
              </a:rPr>
              <a:t>A working connected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0972800" cy="4114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617388"/>
                </a:solidFill>
                <a:latin typeface="Aptos"/>
              </a:rPr>
              <a:t>This development screenshot shows the shopper workspace successfully connected to the local API.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73368"/>
            <a:ext cx="11009376" cy="13716"/>
          </a:xfrm>
          <a:prstGeom prst="rect">
            <a:avLst/>
          </a:prstGeom>
          <a:solidFill>
            <a:srgbClr val="DE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6400800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SMARTCART AI  /  HACKATHON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14984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08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938528"/>
            <a:ext cx="7534656" cy="40599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62f2e1d-03ad-4b68-bdd5-290d687fe3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112264"/>
            <a:ext cx="7278624" cy="367588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49056" y="2157984"/>
            <a:ext cx="3044952" cy="1033271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2322576"/>
            <a:ext cx="2734056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22138"/>
                </a:solidFill>
                <a:latin typeface="Aptos"/>
              </a:rPr>
              <a:t>REACT / VITE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2660904"/>
            <a:ext cx="2706624" cy="42976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17388"/>
                </a:solidFill>
                <a:latin typeface="Aptos"/>
              </a:rPr>
              <a:t>Responsive shopper &amp; operator screens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49056" y="3337560"/>
            <a:ext cx="3044952" cy="1033271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3502152"/>
            <a:ext cx="2734056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22138"/>
                </a:solidFill>
                <a:latin typeface="Aptos"/>
              </a:rPr>
              <a:t>FASTAPI / 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3840480"/>
            <a:ext cx="2706624" cy="42976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17388"/>
                </a:solidFill>
                <a:latin typeface="Aptos"/>
              </a:rPr>
              <a:t>Scan events, event history, checkout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49056" y="4517136"/>
            <a:ext cx="3044952" cy="1033271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2" y="4681727"/>
            <a:ext cx="2734056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9A88C"/>
                </a:solidFill>
                <a:latin typeface="Aptos"/>
              </a:rPr>
              <a:t>OPENCV / ZXING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5020055"/>
            <a:ext cx="2706624" cy="42976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17388"/>
                </a:solidFill>
                <a:latin typeface="Aptos"/>
              </a:rPr>
              <a:t>Shelf zone analysis, barcode scan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5815584"/>
            <a:ext cx="2880360" cy="45720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17388"/>
                </a:solidFill>
                <a:latin typeface="Aptos"/>
              </a:rPr>
              <a:t>Screenshot: earlier local UI capture. Advanced features require local acceptance verification.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64008" cy="411480"/>
          </a:xfrm>
          <a:prstGeom prst="rect">
            <a:avLst/>
          </a:prstGeom>
          <a:solidFill>
            <a:srgbClr val="09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48056"/>
            <a:ext cx="8229600" cy="20116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9A88C"/>
                </a:solidFill>
                <a:latin typeface="Aptos"/>
              </a:rPr>
              <a:t>EVIDENCE &amp;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59536"/>
            <a:ext cx="10972800" cy="62179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22138"/>
                </a:solidFill>
                <a:latin typeface="Aptos"/>
              </a:rPr>
              <a:t>Tested logic. Clearly stated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0972800" cy="4114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617388"/>
                </a:solidFill>
                <a:latin typeface="Aptos"/>
              </a:rPr>
              <a:t>Backend acceptance tests use synthetic JPEG frames and simulated shelf events, not real retail conditions.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73368"/>
            <a:ext cx="11009376" cy="13716"/>
          </a:xfrm>
          <a:prstGeom prst="rect">
            <a:avLst/>
          </a:prstGeom>
          <a:solidFill>
            <a:srgbClr val="DE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6400800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SMARTCART AI  /  HACKATHON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14984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09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2093976"/>
            <a:ext cx="3666744" cy="3502152"/>
          </a:xfrm>
          <a:prstGeom prst="roundRect">
            <a:avLst>
              <a:gd name="adj" fmla="val 12000"/>
            </a:avLst>
          </a:prstGeom>
          <a:solidFill>
            <a:srgbClr val="0C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60320"/>
            <a:ext cx="3044952" cy="722376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8EE0CB"/>
                </a:solidFill>
                <a:latin typeface="Aptos"/>
              </a:rPr>
              <a:t>22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474720"/>
            <a:ext cx="3063240" cy="356616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BACKEND TESTS 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4233672"/>
            <a:ext cx="2916936" cy="1042415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9DDEA"/>
                </a:solidFill>
                <a:latin typeface="Aptos"/>
              </a:rPr>
              <a:t>Reconciliation, uncertain evidence, safe exit refusal, mock receipt deduplication.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121408"/>
            <a:ext cx="6812280" cy="10241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82896" y="2377439"/>
            <a:ext cx="155448" cy="155448"/>
          </a:xfrm>
          <a:prstGeom prst="ellipse">
            <a:avLst/>
          </a:prstGeom>
          <a:solidFill>
            <a:srgbClr val="09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2258568"/>
            <a:ext cx="5797296" cy="310896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22138"/>
                </a:solidFill>
                <a:latin typeface="Aptos"/>
              </a:rPr>
              <a:t>VERIFIED BY AUTOMATED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633472"/>
            <a:ext cx="5696712" cy="32918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17388"/>
                </a:solidFill>
                <a:latin typeface="Aptos"/>
              </a:rPr>
              <a:t>Backend behavior and synthetic-frame scenarios.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3319272"/>
            <a:ext cx="6812280" cy="10241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82896" y="3575304"/>
            <a:ext cx="155448" cy="155448"/>
          </a:xfrm>
          <a:prstGeom prst="ellipse">
            <a:avLst/>
          </a:prstGeom>
          <a:solidFill>
            <a:srgbClr val="E8A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7216" y="3456432"/>
            <a:ext cx="5797296" cy="310896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22138"/>
                </a:solidFill>
                <a:latin typeface="Aptos"/>
              </a:rPr>
              <a:t>PENDING LOCAL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831335"/>
            <a:ext cx="5696712" cy="32918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17388"/>
                </a:solidFill>
                <a:latin typeface="Aptos"/>
              </a:rPr>
              <a:t>Frontend build, webcam, and phone scanning.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517136"/>
            <a:ext cx="6812280" cy="10241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82896" y="4773168"/>
            <a:ext cx="155448" cy="155448"/>
          </a:xfrm>
          <a:prstGeom prst="ellipse">
            <a:avLst/>
          </a:prstGeom>
          <a:solidFill>
            <a:srgbClr val="A05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4654296"/>
            <a:ext cx="5797296" cy="310896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22138"/>
                </a:solidFill>
                <a:latin typeface="Aptos"/>
              </a:rPr>
              <a:t>NOT PART OF THIS PROTOTYPE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5029200"/>
            <a:ext cx="5696712" cy="32918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17388"/>
                </a:solidFill>
                <a:latin typeface="Aptos"/>
              </a:rPr>
              <a:t>Physical shelf sensors, real billing, multiple shoppers.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0624"/>
            <a:ext cx="64008" cy="411480"/>
          </a:xfrm>
          <a:prstGeom prst="rect">
            <a:avLst/>
          </a:prstGeom>
          <a:solidFill>
            <a:srgbClr val="09A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48056"/>
            <a:ext cx="8229600" cy="201168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9A88C"/>
                </a:solidFill>
                <a:latin typeface="Apto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59536"/>
            <a:ext cx="10972800" cy="62179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122138"/>
                </a:solidFill>
                <a:latin typeface="Aptos"/>
              </a:rPr>
              <a:t>Prototype now. Retail-grade validation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0972800" cy="4114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617388"/>
                </a:solidFill>
                <a:latin typeface="Aptos"/>
              </a:rPr>
              <a:t>A path from a controlled three-product demo toward trustworthy checkout-anywhere retail.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73368"/>
            <a:ext cx="11009376" cy="13716"/>
          </a:xfrm>
          <a:prstGeom prst="rect">
            <a:avLst/>
          </a:prstGeom>
          <a:solidFill>
            <a:srgbClr val="DE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6400800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SMARTCART AI  /  HACKATHON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14984" cy="18288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17388"/>
                </a:solidFill>
                <a:latin typeface="Aptos"/>
              </a:rPr>
              <a:t>10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2240280"/>
            <a:ext cx="2743200" cy="2724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5256" y="2523744"/>
            <a:ext cx="548640" cy="320040"/>
          </a:xfrm>
          <a:prstGeom prst="roundRect">
            <a:avLst>
              <a:gd name="adj" fmla="val 30000"/>
            </a:avLst>
          </a:prstGeom>
          <a:solidFill>
            <a:srgbClr val="E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583179"/>
            <a:ext cx="365759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9A88C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18104"/>
            <a:ext cx="2286000" cy="42062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22138"/>
                </a:solidFill>
                <a:latin typeface="Aptos"/>
              </a:rP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694176"/>
            <a:ext cx="2331720" cy="96926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17388"/>
                </a:solidFill>
                <a:latin typeface="Aptos"/>
              </a:rPr>
              <a:t>Measure false pickup/return alerts with real shelf setups and mobile devices.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93592" y="2240280"/>
            <a:ext cx="2743200" cy="2724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94760" y="2523744"/>
            <a:ext cx="548640" cy="320040"/>
          </a:xfrm>
          <a:prstGeom prst="roundRect">
            <a:avLst>
              <a:gd name="adj" fmla="val 30000"/>
            </a:avLst>
          </a:prstGeom>
          <a:solidFill>
            <a:srgbClr val="E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2583179"/>
            <a:ext cx="365759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9A88C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118104"/>
            <a:ext cx="2286000" cy="42062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22138"/>
                </a:solidFill>
                <a:latin typeface="Aptos"/>
              </a:rPr>
              <a:t>Instrument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694176"/>
            <a:ext cx="2331720" cy="96926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17388"/>
                </a:solidFill>
                <a:latin typeface="Aptos"/>
              </a:rPr>
              <a:t>Integrate ESP32, HX711 and load cells; calibrate physical shelf signals.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3096" y="2240280"/>
            <a:ext cx="2743200" cy="2724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84264" y="2523744"/>
            <a:ext cx="548640" cy="320040"/>
          </a:xfrm>
          <a:prstGeom prst="roundRect">
            <a:avLst>
              <a:gd name="adj" fmla="val 30000"/>
            </a:avLst>
          </a:prstGeom>
          <a:solidFill>
            <a:srgbClr val="E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75703" y="2583179"/>
            <a:ext cx="365759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9A88C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3118104"/>
            <a:ext cx="2286000" cy="42062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22138"/>
                </a:solidFill>
                <a:latin typeface="Aptos"/>
              </a:rPr>
              <a:t>Scale safely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4264" y="3694176"/>
            <a:ext cx="2331720" cy="96926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17388"/>
                </a:solidFill>
                <a:latin typeface="Aptos"/>
              </a:rPr>
              <a:t>Add authenticated sessions, privacy controls and multi-shopper association.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2240280"/>
            <a:ext cx="2743200" cy="2724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255"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73768" y="2523744"/>
            <a:ext cx="548640" cy="320040"/>
          </a:xfrm>
          <a:prstGeom prst="roundRect">
            <a:avLst>
              <a:gd name="adj" fmla="val 30000"/>
            </a:avLst>
          </a:prstGeom>
          <a:solidFill>
            <a:srgbClr val="E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5208" y="2583179"/>
            <a:ext cx="365759" cy="210312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9A88C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8" y="3118104"/>
            <a:ext cx="2286000" cy="42062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22138"/>
                </a:solidFill>
                <a:latin typeface="Aptos"/>
              </a:rPr>
              <a:t>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3768" y="3694176"/>
            <a:ext cx="2331720" cy="969264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17388"/>
                </a:solidFill>
                <a:latin typeface="Aptos"/>
              </a:rPr>
              <a:t>Integrate consent-based payments and test with retailer oversight.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5431536"/>
            <a:ext cx="10735056" cy="566928"/>
          </a:xfrm>
          <a:prstGeom prst="roundRect">
            <a:avLst>
              <a:gd name="adj" fmla="val 12000"/>
            </a:avLst>
          </a:prstGeom>
          <a:solidFill>
            <a:srgbClr val="0C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605272"/>
            <a:ext cx="10058400" cy="274320"/>
          </a:xfrm>
          <a:prstGeom prst="rect">
            <a:avLst/>
          </a:prstGeom>
          <a:noFill/>
        </p:spPr>
        <p:txBody>
          <a:bodyPr wrap="square" lIns="10972" rIns="10972" tIns="4572" bIns="457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SMARTCART AI  —  SCAN. VERIFY. 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